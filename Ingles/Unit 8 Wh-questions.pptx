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757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8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31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9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9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81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7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6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3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92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3/16/2021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3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0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D4E1D-5B8C-44CD-A028-76F84D65E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98" b="19610"/>
          <a:stretch/>
        </p:blipFill>
        <p:spPr>
          <a:xfrm>
            <a:off x="20" y="-1"/>
            <a:ext cx="12191980" cy="6858002"/>
          </a:xfrm>
          <a:prstGeom prst="rect">
            <a:avLst/>
          </a:prstGeom>
        </p:spPr>
      </p:pic>
      <p:sp>
        <p:nvSpPr>
          <p:cNvPr id="36" name="Rectangle 32">
            <a:extLst>
              <a:ext uri="{FF2B5EF4-FFF2-40B4-BE49-F238E27FC236}">
                <a16:creationId xmlns:a16="http://schemas.microsoft.com/office/drawing/2014/main" id="{11C4FED8-D85F-4B52-875F-AB6873B50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3361" y="0"/>
            <a:ext cx="8168639" cy="6858000"/>
          </a:xfrm>
          <a:prstGeom prst="rect">
            <a:avLst/>
          </a:prstGeom>
          <a:gradFill>
            <a:gsLst>
              <a:gs pos="58000">
                <a:schemeClr val="tx1">
                  <a:alpha val="55000"/>
                </a:schemeClr>
              </a:gs>
              <a:gs pos="33000">
                <a:schemeClr val="tx1">
                  <a:alpha val="40000"/>
                </a:schemeClr>
              </a:gs>
              <a:gs pos="3000">
                <a:schemeClr val="tx1">
                  <a:alpha val="0"/>
                </a:schemeClr>
              </a:gs>
              <a:gs pos="100000">
                <a:schemeClr val="tx1">
                  <a:alpha val="5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BE10B-5C60-4F2E-B99A-253351BF4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9237" y="863600"/>
            <a:ext cx="6007100" cy="3366494"/>
          </a:xfrm>
        </p:spPr>
        <p:txBody>
          <a:bodyPr anchor="b">
            <a:normAutofit/>
          </a:bodyPr>
          <a:lstStyle/>
          <a:p>
            <a:r>
              <a:rPr lang="pt-BR" sz="5600">
                <a:solidFill>
                  <a:schemeClr val="bg1"/>
                </a:solidFill>
              </a:rPr>
              <a:t>Wh-questions</a:t>
            </a:r>
            <a:br>
              <a:rPr lang="pt-BR" sz="5600">
                <a:solidFill>
                  <a:schemeClr val="bg1"/>
                </a:solidFill>
              </a:rPr>
            </a:br>
            <a:r>
              <a:rPr lang="pt-BR" sz="5600">
                <a:solidFill>
                  <a:schemeClr val="bg1"/>
                </a:solidFill>
              </a:rPr>
              <a:t>Unit 8 – Jobs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B732F-3269-432E-9CEE-CA489D00E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0511" y="4290191"/>
            <a:ext cx="6081953" cy="1345689"/>
          </a:xfrm>
        </p:spPr>
        <p:txBody>
          <a:bodyPr anchor="t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Prof. Msc. Carlos Alberto Gonçalves</a:t>
            </a:r>
          </a:p>
        </p:txBody>
      </p:sp>
    </p:spTree>
    <p:extLst>
      <p:ext uri="{BB962C8B-B14F-4D97-AF65-F5344CB8AC3E}">
        <p14:creationId xmlns:p14="http://schemas.microsoft.com/office/powerpoint/2010/main" val="236946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34">
            <a:extLst>
              <a:ext uri="{FF2B5EF4-FFF2-40B4-BE49-F238E27FC236}">
                <a16:creationId xmlns:a16="http://schemas.microsoft.com/office/drawing/2014/main" id="{0786F82F-1B47-46ED-8EAE-53EF71E59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3" name="Rectangle 136">
            <a:extLst>
              <a:ext uri="{FF2B5EF4-FFF2-40B4-BE49-F238E27FC236}">
                <a16:creationId xmlns:a16="http://schemas.microsoft.com/office/drawing/2014/main" id="{EF1BAF6F-6275-4646-9C59-331B29B9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4" name="Rectangle 138">
            <a:extLst>
              <a:ext uri="{FF2B5EF4-FFF2-40B4-BE49-F238E27FC236}">
                <a16:creationId xmlns:a16="http://schemas.microsoft.com/office/drawing/2014/main" id="{DA4E7B50-D68C-43EB-930F-EA442A13A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5" name="Rectangle 140">
            <a:extLst>
              <a:ext uri="{FF2B5EF4-FFF2-40B4-BE49-F238E27FC236}">
                <a16:creationId xmlns:a16="http://schemas.microsoft.com/office/drawing/2014/main" id="{02822754-E01B-4742-88B9-BE0984BAF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1753" y="0"/>
            <a:ext cx="4010247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Rectangle 142">
            <a:extLst>
              <a:ext uri="{FF2B5EF4-FFF2-40B4-BE49-F238E27FC236}">
                <a16:creationId xmlns:a16="http://schemas.microsoft.com/office/drawing/2014/main" id="{387C5BBA-BBE2-4821-96CF-38FC49570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144">
            <a:extLst>
              <a:ext uri="{FF2B5EF4-FFF2-40B4-BE49-F238E27FC236}">
                <a16:creationId xmlns:a16="http://schemas.microsoft.com/office/drawing/2014/main" id="{3611DA2B-4CF7-4A57-82AC-FA120DE44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60716-3E89-49B2-ADFA-0FBF5BF9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475399"/>
            <a:ext cx="6623040" cy="1140580"/>
          </a:xfrm>
        </p:spPr>
        <p:txBody>
          <a:bodyPr vert="horz" lIns="109728" tIns="109728" rIns="109728" bIns="91440" rtlCol="0" anchor="ctr">
            <a:normAutofit fontScale="90000"/>
          </a:bodyPr>
          <a:lstStyle/>
          <a:p>
            <a:pPr>
              <a:lnSpc>
                <a:spcPct val="140000"/>
              </a:lnSpc>
            </a:pPr>
            <a:r>
              <a:rPr lang="en-US" sz="1800" dirty="0"/>
              <a:t>1.Where </a:t>
            </a:r>
            <a:r>
              <a:rPr lang="en-US" sz="1800" dirty="0">
                <a:solidFill>
                  <a:srgbClr val="FF0000"/>
                </a:solidFill>
              </a:rPr>
              <a:t>do</a:t>
            </a:r>
            <a:r>
              <a:rPr lang="en-US" sz="1800" dirty="0"/>
              <a:t> you </a:t>
            </a:r>
            <a:r>
              <a:rPr lang="en-US" sz="1800" dirty="0">
                <a:solidFill>
                  <a:srgbClr val="FF0000"/>
                </a:solidFill>
              </a:rPr>
              <a:t>work</a:t>
            </a:r>
            <a:r>
              <a:rPr lang="en-US" sz="1800" dirty="0"/>
              <a:t>?</a:t>
            </a:r>
            <a:br>
              <a:rPr lang="en-US" sz="1800" dirty="0"/>
            </a:br>
            <a:r>
              <a:rPr lang="en-US" sz="1800" dirty="0"/>
              <a:t>2. What </a:t>
            </a:r>
            <a:r>
              <a:rPr lang="en-US" sz="1800" dirty="0">
                <a:solidFill>
                  <a:srgbClr val="FF0000"/>
                </a:solidFill>
              </a:rPr>
              <a:t>do</a:t>
            </a:r>
            <a:r>
              <a:rPr lang="en-US" sz="1800" dirty="0"/>
              <a:t> you </a:t>
            </a:r>
            <a:r>
              <a:rPr lang="en-US" sz="1800" dirty="0">
                <a:solidFill>
                  <a:srgbClr val="FF0000"/>
                </a:solidFill>
              </a:rPr>
              <a:t>do</a:t>
            </a:r>
            <a:r>
              <a:rPr lang="en-US" sz="1800" dirty="0"/>
              <a:t>?</a:t>
            </a:r>
            <a:br>
              <a:rPr lang="en-US" sz="1800" dirty="0"/>
            </a:br>
            <a:r>
              <a:rPr lang="en-US" sz="1800" dirty="0"/>
              <a:t>3. How </a:t>
            </a:r>
            <a:r>
              <a:rPr lang="en-US" sz="1800" dirty="0">
                <a:solidFill>
                  <a:srgbClr val="FF0000"/>
                </a:solidFill>
              </a:rPr>
              <a:t>do</a:t>
            </a:r>
            <a:r>
              <a:rPr lang="en-US" sz="1800" dirty="0"/>
              <a:t> you</a:t>
            </a:r>
            <a:r>
              <a:rPr lang="en-US" sz="1800" dirty="0">
                <a:solidFill>
                  <a:srgbClr val="FF0000"/>
                </a:solidFill>
              </a:rPr>
              <a:t> like </a:t>
            </a:r>
            <a:r>
              <a:rPr lang="en-US" sz="1800" dirty="0"/>
              <a:t>it?</a:t>
            </a:r>
            <a:br>
              <a:rPr lang="en-US" sz="900" dirty="0"/>
            </a:br>
            <a:endParaRPr lang="en-US" sz="9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58EA-C878-440F-A0E4-F43FD4B79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7179" y="2743995"/>
            <a:ext cx="6623039" cy="3030599"/>
          </a:xfrm>
        </p:spPr>
        <p:txBody>
          <a:bodyPr vert="horz" lIns="109728" tIns="109728" rIns="109728" bIns="91440" rtlCol="0" anchor="t">
            <a:normAutofit fontScale="85000" lnSpcReduction="10000"/>
          </a:bodyPr>
          <a:lstStyle/>
          <a:p>
            <a:pPr indent="-342900">
              <a:buFont typeface="Corbel" panose="020B0503020204020204" pitchFamily="34" charset="0"/>
              <a:buAutoNum type="arabicPeriod"/>
            </a:pPr>
            <a:r>
              <a:rPr lang="en-US" dirty="0"/>
              <a:t>Workplace</a:t>
            </a:r>
          </a:p>
          <a:p>
            <a:pPr indent="-342900">
              <a:buFont typeface="Corbel" panose="020B0503020204020204" pitchFamily="34" charset="0"/>
              <a:buAutoNum type="arabicPeriod"/>
            </a:pPr>
            <a:r>
              <a:rPr lang="en-US" dirty="0"/>
              <a:t>Job / Profession</a:t>
            </a:r>
          </a:p>
          <a:p>
            <a:pPr indent="-342900">
              <a:buFont typeface="Corbel" panose="020B0503020204020204" pitchFamily="34" charset="0"/>
              <a:buAutoNum type="arabicPeriod"/>
            </a:pPr>
            <a:r>
              <a:rPr lang="en-US" dirty="0"/>
              <a:t>Love – hate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 work at Fatec Jales.</a:t>
            </a:r>
          </a:p>
          <a:p>
            <a:pPr marL="342900" indent="-342900">
              <a:buAutoNum type="arabicPeriod"/>
            </a:pPr>
            <a:r>
              <a:rPr lang="en-US" dirty="0"/>
              <a:t>I am a Professor.</a:t>
            </a:r>
          </a:p>
          <a:p>
            <a:pPr marL="342900" indent="-342900">
              <a:buAutoNum type="arabicPeriod"/>
            </a:pPr>
            <a:r>
              <a:rPr lang="en-US" dirty="0"/>
              <a:t>I love it very much.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2050" name="Picture 2" descr="British Sign Language Dictionary | You">
            <a:extLst>
              <a:ext uri="{FF2B5EF4-FFF2-40B4-BE49-F238E27FC236}">
                <a16:creationId xmlns:a16="http://schemas.microsoft.com/office/drawing/2014/main" id="{E28E89DC-D0D1-449E-AF5A-4B871D711F0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54669" y="1112689"/>
            <a:ext cx="2350151" cy="253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2017 Tigers On The Air | NFHSTMC">
            <a:extLst>
              <a:ext uri="{FF2B5EF4-FFF2-40B4-BE49-F238E27FC236}">
                <a16:creationId xmlns:a16="http://schemas.microsoft.com/office/drawing/2014/main" id="{5BE66847-05E0-4B50-AFC4-6FD66B0DC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36989" y="3785463"/>
            <a:ext cx="2040345" cy="190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C1CF7BFC-0A02-4106-88A8-CCC0D9444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5304E59-B4DC-4CA3-89F1-5C88000EB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73167A8C-FFEF-4D1B-8459-E2BB5C04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A3DFBE-30A6-4BDE-9238-14F3652B4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CA835-3A68-4F79-8083-F784410C9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6072" y="3561468"/>
            <a:ext cx="399592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71FD-F380-4CFE-9E88-AF85A8ED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1. Where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5"/>
                </a:solidFill>
              </a:rPr>
              <a:t>John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work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2. What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5"/>
                </a:solidFill>
              </a:rPr>
              <a:t>he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3. How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5"/>
                </a:solidFill>
              </a:rPr>
              <a:t>he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like</a:t>
            </a:r>
            <a:r>
              <a:rPr lang="pt-BR" dirty="0">
                <a:solidFill>
                  <a:schemeClr val="tx1"/>
                </a:solidFill>
              </a:rPr>
              <a:t> it?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25B8F-465D-4470-9031-3FF21A3D21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He work</a:t>
            </a:r>
            <a:r>
              <a:rPr lang="pt-BR" dirty="0">
                <a:solidFill>
                  <a:srgbClr val="FF0000"/>
                </a:solidFill>
              </a:rPr>
              <a:t>s</a:t>
            </a:r>
            <a:r>
              <a:rPr lang="pt-BR" dirty="0">
                <a:solidFill>
                  <a:schemeClr val="tx1"/>
                </a:solidFill>
              </a:rPr>
              <a:t> at Microsoft.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He </a:t>
            </a:r>
            <a:r>
              <a:rPr lang="pt-BR">
                <a:solidFill>
                  <a:srgbClr val="FF0000"/>
                </a:solidFill>
              </a:rPr>
              <a:t>is</a:t>
            </a:r>
            <a:r>
              <a:rPr lang="pt-BR">
                <a:solidFill>
                  <a:schemeClr val="tx1"/>
                </a:solidFill>
              </a:rPr>
              <a:t> programmer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He like</a:t>
            </a:r>
            <a:r>
              <a:rPr lang="pt-BR" dirty="0">
                <a:solidFill>
                  <a:srgbClr val="FF0000"/>
                </a:solidFill>
              </a:rPr>
              <a:t>s</a:t>
            </a:r>
            <a:r>
              <a:rPr lang="pt-BR" dirty="0">
                <a:solidFill>
                  <a:schemeClr val="tx1"/>
                </a:solidFill>
              </a:rPr>
              <a:t> it very much.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24FCD-16D8-431E-B09C-D7C33ECAC8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             </a:t>
            </a:r>
          </a:p>
          <a:p>
            <a:r>
              <a:rPr lang="pt-BR" dirty="0"/>
              <a:t>              John Baker</a:t>
            </a:r>
          </a:p>
        </p:txBody>
      </p:sp>
      <p:pic>
        <p:nvPicPr>
          <p:cNvPr id="4098" name="Picture 2" descr="Best and worst things about working at Microsoft - Business Insider">
            <a:extLst>
              <a:ext uri="{FF2B5EF4-FFF2-40B4-BE49-F238E27FC236}">
                <a16:creationId xmlns:a16="http://schemas.microsoft.com/office/drawing/2014/main" id="{31F76299-73B4-4993-9C5E-CB9915A88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478" y="4644"/>
            <a:ext cx="3829879" cy="2632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38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41BD-EBB1-4894-A90C-DCA23FCE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1. Where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Megg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work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2. What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she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3. How </a:t>
            </a:r>
            <a:r>
              <a:rPr lang="pt-BR" dirty="0">
                <a:solidFill>
                  <a:srgbClr val="FF0000"/>
                </a:solidFill>
              </a:rPr>
              <a:t>does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she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like</a:t>
            </a:r>
            <a:r>
              <a:rPr lang="pt-BR" dirty="0">
                <a:solidFill>
                  <a:schemeClr val="tx1"/>
                </a:solidFill>
              </a:rPr>
              <a:t> it?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17260-EA21-4C29-AB2B-6D25F1C978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She work</a:t>
            </a:r>
            <a:r>
              <a:rPr lang="pt-BR" dirty="0">
                <a:solidFill>
                  <a:srgbClr val="FF0000"/>
                </a:solidFill>
              </a:rPr>
              <a:t>s</a:t>
            </a:r>
            <a:r>
              <a:rPr lang="pt-BR" dirty="0">
                <a:solidFill>
                  <a:schemeClr val="tx1"/>
                </a:solidFill>
              </a:rPr>
              <a:t> at Universal Studios.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She </a:t>
            </a:r>
            <a:r>
              <a:rPr lang="pt-BR" dirty="0">
                <a:solidFill>
                  <a:srgbClr val="FF0000"/>
                </a:solidFill>
              </a:rPr>
              <a:t>is</a:t>
            </a:r>
            <a:r>
              <a:rPr lang="pt-BR" dirty="0">
                <a:solidFill>
                  <a:schemeClr val="tx1"/>
                </a:solidFill>
              </a:rPr>
              <a:t> a movie star.</a:t>
            </a:r>
          </a:p>
          <a:p>
            <a:pPr marL="342900" indent="-342900">
              <a:buAutoNum type="arabicPeriod"/>
            </a:pPr>
            <a:r>
              <a:rPr lang="pt-BR">
                <a:solidFill>
                  <a:schemeClr val="tx1"/>
                </a:solidFill>
              </a:rPr>
              <a:t>She </a:t>
            </a:r>
            <a:r>
              <a:rPr lang="pt-BR" dirty="0">
                <a:solidFill>
                  <a:schemeClr val="tx1"/>
                </a:solidFill>
              </a:rPr>
              <a:t>like</a:t>
            </a:r>
            <a:r>
              <a:rPr lang="pt-BR" dirty="0">
                <a:solidFill>
                  <a:srgbClr val="FF0000"/>
                </a:solidFill>
              </a:rPr>
              <a:t>s</a:t>
            </a:r>
            <a:r>
              <a:rPr lang="pt-BR" dirty="0">
                <a:solidFill>
                  <a:schemeClr val="tx1"/>
                </a:solidFill>
              </a:rPr>
              <a:t> 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F1BB-4011-4EBE-BD18-A22A6263DD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                    </a:t>
            </a:r>
            <a:r>
              <a:rPr lang="pt-BR" dirty="0">
                <a:solidFill>
                  <a:schemeClr val="tx1"/>
                </a:solidFill>
              </a:rPr>
              <a:t>Megg Ryan </a:t>
            </a: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7170" name="Picture 2" descr="Ainda mais “plastificada”, Meg Ryan ressurge em entrega de prêmio | VEJA  SÃO PAULO">
            <a:extLst>
              <a:ext uri="{FF2B5EF4-FFF2-40B4-BE49-F238E27FC236}">
                <a16:creationId xmlns:a16="http://schemas.microsoft.com/office/drawing/2014/main" id="{A8F2B1A0-7FAB-42E3-8748-9372EE0EF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216" y="210022"/>
            <a:ext cx="4306957" cy="25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7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C8B-6D57-491B-9181-2100D0F2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1. Where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00B050"/>
                </a:solidFill>
              </a:rPr>
              <a:t>Lázaro and Taís </a:t>
            </a:r>
            <a:r>
              <a:rPr lang="pt-BR" dirty="0">
                <a:solidFill>
                  <a:srgbClr val="FF0000"/>
                </a:solidFill>
              </a:rPr>
              <a:t>work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2. What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00B050"/>
                </a:solidFill>
              </a:rPr>
              <a:t>they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?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3. How </a:t>
            </a:r>
            <a:r>
              <a:rPr lang="pt-BR" dirty="0">
                <a:solidFill>
                  <a:srgbClr val="FF0000"/>
                </a:solidFill>
              </a:rPr>
              <a:t>do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00B050"/>
                </a:solidFill>
              </a:rPr>
              <a:t>they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like</a:t>
            </a:r>
            <a:r>
              <a:rPr lang="pt-BR" dirty="0">
                <a:solidFill>
                  <a:schemeClr val="tx1"/>
                </a:solidFill>
              </a:rPr>
              <a:t>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64CC-71A0-4E36-8A82-4E1EFA7710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       </a:t>
            </a:r>
            <a:r>
              <a:rPr lang="pt-BR" dirty="0">
                <a:solidFill>
                  <a:schemeClr val="tx1"/>
                </a:solidFill>
              </a:rPr>
              <a:t>Lázaro Ramos e Taís Araújo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D4A42-4F89-4257-A241-773B620621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They work at Globo.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They are actors.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They just love it.</a:t>
            </a:r>
          </a:p>
        </p:txBody>
      </p:sp>
      <p:pic>
        <p:nvPicPr>
          <p:cNvPr id="8194" name="Picture 2" descr="30 casais famosos que estão juntos há muito tempo">
            <a:extLst>
              <a:ext uri="{FF2B5EF4-FFF2-40B4-BE49-F238E27FC236}">
                <a16:creationId xmlns:a16="http://schemas.microsoft.com/office/drawing/2014/main" id="{A01CCFF4-B28F-48F3-8B69-E386A431F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8063"/>
            <a:ext cx="3905619" cy="240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28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BB61-C5C1-491E-A9EF-FE49CB435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And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251C-C72B-406D-9CA5-3DC519D737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Where do you work?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What do you do?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How do you like it?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6A3E4-9BE6-4198-9F88-E03265E414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chemeClr val="tx1"/>
                </a:solidFill>
              </a:rPr>
              <a:t>How about your best friend?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Where does he/she work?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What does he/she do?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How does he/she like it?</a:t>
            </a:r>
          </a:p>
          <a:p>
            <a:pPr marL="342900" indent="-342900">
              <a:buAutoNum type="arabicPeriod"/>
            </a:pPr>
            <a:endParaRPr lang="pt-BR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tx1"/>
                </a:solidFill>
              </a:rPr>
              <a:t>And your parents?</a:t>
            </a:r>
          </a:p>
        </p:txBody>
      </p:sp>
    </p:spTree>
    <p:extLst>
      <p:ext uri="{BB962C8B-B14F-4D97-AF65-F5344CB8AC3E}">
        <p14:creationId xmlns:p14="http://schemas.microsoft.com/office/powerpoint/2010/main" val="342369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hanks Sign GIF - Thanks Sign ThankYou - Discover &amp; Share GIFs">
            <a:extLst>
              <a:ext uri="{FF2B5EF4-FFF2-40B4-BE49-F238E27FC236}">
                <a16:creationId xmlns:a16="http://schemas.microsoft.com/office/drawing/2014/main" id="{107B2AF7-0DCA-457E-B817-8E31EFC4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983" y="809309"/>
            <a:ext cx="9382539" cy="525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268112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AnalogousFromRegularSeed_2SEEDS">
      <a:dk1>
        <a:srgbClr val="000000"/>
      </a:dk1>
      <a:lt1>
        <a:srgbClr val="FFFFFF"/>
      </a:lt1>
      <a:dk2>
        <a:srgbClr val="413424"/>
      </a:dk2>
      <a:lt2>
        <a:srgbClr val="E2E5E8"/>
      </a:lt2>
      <a:accent1>
        <a:srgbClr val="E74729"/>
      </a:accent1>
      <a:accent2>
        <a:srgbClr val="D58417"/>
      </a:accent2>
      <a:accent3>
        <a:srgbClr val="A9A71E"/>
      </a:accent3>
      <a:accent4>
        <a:srgbClr val="16B0CA"/>
      </a:accent4>
      <a:accent5>
        <a:srgbClr val="297CE7"/>
      </a:accent5>
      <a:accent6>
        <a:srgbClr val="4C4FDE"/>
      </a:accent6>
      <a:hlink>
        <a:srgbClr val="5182C5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1E283FF91D234CA1960724D03591C1" ma:contentTypeVersion="0" ma:contentTypeDescription="Crie um novo documento." ma:contentTypeScope="" ma:versionID="f39027e335063016efbfe1e567810a0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24319475835c1d8a4ec49180d72442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185FFB-28B1-4897-A9D9-0A51A6AA5623}"/>
</file>

<file path=customXml/itemProps2.xml><?xml version="1.0" encoding="utf-8"?>
<ds:datastoreItem xmlns:ds="http://schemas.openxmlformats.org/officeDocument/2006/customXml" ds:itemID="{CFDF3E1D-6EFD-499C-A17F-910A5D4D57BA}"/>
</file>

<file path=customXml/itemProps3.xml><?xml version="1.0" encoding="utf-8"?>
<ds:datastoreItem xmlns:ds="http://schemas.openxmlformats.org/officeDocument/2006/customXml" ds:itemID="{29EF93B8-53B8-4286-ABF9-7900766D438A}"/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245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Meiryo</vt:lpstr>
      <vt:lpstr>Corbel</vt:lpstr>
      <vt:lpstr>ShojiVTI</vt:lpstr>
      <vt:lpstr>Wh-questions Unit 8 – Jobs </vt:lpstr>
      <vt:lpstr>1.Where do you work? 2. What do you do? 3. How do you like it? </vt:lpstr>
      <vt:lpstr>1. Where does John work? 2. What does he do? 3. How does he like it?</vt:lpstr>
      <vt:lpstr>1. Where does Megg work? 2. What does she do? 3. How does she like it?</vt:lpstr>
      <vt:lpstr>1. Where do Lázaro and Taís work? 2. What do they do? 3. How do they like it?</vt:lpstr>
      <vt:lpstr>And you?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Wh-questions Unit 8 – Jobs </dc:title>
  <dc:creator>CARLOS ALBERTO GONÇALVES SILVA</dc:creator>
  <cp:lastModifiedBy>CARLOS ALBERTO GONÇALVES SILVA</cp:lastModifiedBy>
  <cp:revision>3</cp:revision>
  <dcterms:created xsi:type="dcterms:W3CDTF">2020-09-18T16:17:51Z</dcterms:created>
  <dcterms:modified xsi:type="dcterms:W3CDTF">2021-03-16T12:48:50Z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0x010100321E283FF91D234CA1960724D03591C1</vt:lpwstr>
  </property>
</Properties>
</file>